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Barlow ExtraLight"/>
      <p:regular r:id="rId30"/>
      <p:bold r:id="rId31"/>
      <p:italic r:id="rId32"/>
      <p:boldItalic r:id="rId33"/>
    </p:embeddedFont>
    <p:embeddedFont>
      <p:font typeface="Hepta Slab Medium"/>
      <p:regular r:id="rId34"/>
      <p:bold r:id="rId35"/>
    </p:embeddedFont>
    <p:embeddedFont>
      <p:font typeface="Hepta Slab Light"/>
      <p:regular r:id="rId36"/>
      <p:bold r:id="rId37"/>
    </p:embeddedFont>
    <p:embeddedFont>
      <p:font typeface="Hepta Slab"/>
      <p:regular r:id="rId38"/>
      <p:bold r:id="rId39"/>
    </p:embeddedFont>
    <p:embeddedFont>
      <p:font typeface="Barlow Medium"/>
      <p:regular r:id="rId40"/>
      <p:bold r:id="rId41"/>
      <p:italic r:id="rId42"/>
      <p:boldItalic r:id="rId43"/>
    </p:embeddedFont>
    <p:embeddedFont>
      <p:font typeface="Barlow Light"/>
      <p:regular r:id="rId44"/>
      <p:bold r:id="rId45"/>
      <p:italic r:id="rId46"/>
      <p:boldItalic r:id="rId47"/>
    </p:embeddedFont>
    <p:embeddedFont>
      <p:font typeface="Barlow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Medium-regular.fntdata"/><Relationship Id="rId42" Type="http://schemas.openxmlformats.org/officeDocument/2006/relationships/font" Target="fonts/BarlowMedium-italic.fntdata"/><Relationship Id="rId41" Type="http://schemas.openxmlformats.org/officeDocument/2006/relationships/font" Target="fonts/BarlowMedium-bold.fntdata"/><Relationship Id="rId44" Type="http://schemas.openxmlformats.org/officeDocument/2006/relationships/font" Target="fonts/BarlowLight-regular.fntdata"/><Relationship Id="rId43" Type="http://schemas.openxmlformats.org/officeDocument/2006/relationships/font" Target="fonts/BarlowMedium-boldItalic.fntdata"/><Relationship Id="rId46" Type="http://schemas.openxmlformats.org/officeDocument/2006/relationships/font" Target="fonts/BarlowLight-italic.fntdata"/><Relationship Id="rId45" Type="http://schemas.openxmlformats.org/officeDocument/2006/relationships/font" Target="fonts/BarlowLight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Barlow-regular.fntdata"/><Relationship Id="rId47" Type="http://schemas.openxmlformats.org/officeDocument/2006/relationships/font" Target="fonts/BarlowLight-boldItalic.fntdata"/><Relationship Id="rId49" Type="http://schemas.openxmlformats.org/officeDocument/2006/relationships/font" Target="fonts/Barlow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ExtraLight-bold.fntdata"/><Relationship Id="rId30" Type="http://schemas.openxmlformats.org/officeDocument/2006/relationships/font" Target="fonts/BarlowExtraLight-regular.fntdata"/><Relationship Id="rId33" Type="http://schemas.openxmlformats.org/officeDocument/2006/relationships/font" Target="fonts/BarlowExtraLight-boldItalic.fntdata"/><Relationship Id="rId32" Type="http://schemas.openxmlformats.org/officeDocument/2006/relationships/font" Target="fonts/BarlowExtraLight-italic.fntdata"/><Relationship Id="rId35" Type="http://schemas.openxmlformats.org/officeDocument/2006/relationships/font" Target="fonts/HeptaSlabMedium-bold.fntdata"/><Relationship Id="rId34" Type="http://schemas.openxmlformats.org/officeDocument/2006/relationships/font" Target="fonts/HeptaSlabMedium-regular.fntdata"/><Relationship Id="rId37" Type="http://schemas.openxmlformats.org/officeDocument/2006/relationships/font" Target="fonts/HeptaSlabLight-bold.fntdata"/><Relationship Id="rId36" Type="http://schemas.openxmlformats.org/officeDocument/2006/relationships/font" Target="fonts/HeptaSlabLight-regular.fntdata"/><Relationship Id="rId39" Type="http://schemas.openxmlformats.org/officeDocument/2006/relationships/font" Target="fonts/HeptaSlab-bold.fntdata"/><Relationship Id="rId38" Type="http://schemas.openxmlformats.org/officeDocument/2006/relationships/font" Target="fonts/HeptaSlab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arlow-boldItalic.fntdata"/><Relationship Id="rId50" Type="http://schemas.openxmlformats.org/officeDocument/2006/relationships/font" Target="fonts/Barlow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50f9537ef9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50f9537ef9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50f9537ef9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50f9537ef9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0f9537ef9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50f9537ef9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517383afe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517383af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517383afe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517383afe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50f9537ef9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50f9537ef9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17383afe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517383afe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517383afe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517383afe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50f9537ef9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50f9537ef9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517383afe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517383afe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50f9537ef9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50f9537ef9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517383afe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517383afe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517383afe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517383afe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517383afe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517383afe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50f9537ef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50f9537ef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517383afe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517383afe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17383afe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17383afe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0f9537ef9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0f9537ef9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51bac9ae4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51bac9ae4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51bac9ae4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51bac9ae4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50f9537ef9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50f9537ef9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51bac9ae4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51bac9ae4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50f9537ef9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50f9537ef9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7" name="Google Shape;187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8" name="Google Shape;188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9" name="Google Shape;189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2" name="Google Shape;192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7" name="Google Shape;227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3" name="Google Shape;273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4" name="Google Shape;274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2" name="Google Shape;282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7" name="Google Shape;287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6" name="Google Shape;326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5" name="Google Shape;345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9" name="Google Shape;349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0" name="Google Shape;350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4" name="Google Shape;354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5" name="Google Shape;355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2" name="Google Shape;36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arxiv.org/abs/1503.03832" TargetMode="External"/><Relationship Id="rId4" Type="http://schemas.openxmlformats.org/officeDocument/2006/relationships/hyperlink" Target="https://ieeexplore.ieee.org/abstract/document/8373813" TargetMode="External"/><Relationship Id="rId9" Type="http://schemas.openxmlformats.org/officeDocument/2006/relationships/hyperlink" Target="https://docs.opencv.org/" TargetMode="External"/><Relationship Id="rId5" Type="http://schemas.openxmlformats.org/officeDocument/2006/relationships/hyperlink" Target="https://doi.org/10.48550/arXiv.1801.07698" TargetMode="External"/><Relationship Id="rId6" Type="http://schemas.openxmlformats.org/officeDocument/2006/relationships/hyperlink" Target="https://www.kaggle.com/datasets/jessicali9530/lfw-dataset" TargetMode="External"/><Relationship Id="rId7" Type="http://schemas.openxmlformats.org/officeDocument/2006/relationships/hyperlink" Target="https://github.com/nyoki-mtl/keras-facenet" TargetMode="External"/><Relationship Id="rId8" Type="http://schemas.openxmlformats.org/officeDocument/2006/relationships/hyperlink" Target="https://arxiv.org/abs/1604.02878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/>
          <p:nvPr>
            <p:ph idx="1" type="body"/>
          </p:nvPr>
        </p:nvSpPr>
        <p:spPr>
          <a:xfrm>
            <a:off x="2626350" y="4149975"/>
            <a:ext cx="3891300" cy="16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</a:t>
            </a:r>
            <a:r>
              <a:rPr lang="en" sz="1300"/>
              <a:t>GUILLERMO GARCIA DE CELIS 		KEVIN TRUONG</a:t>
            </a:r>
            <a:endParaRPr sz="1300"/>
          </a:p>
        </p:txBody>
      </p:sp>
      <p:sp>
        <p:nvSpPr>
          <p:cNvPr id="372" name="Google Shape;372;p59"/>
          <p:cNvSpPr txBox="1"/>
          <p:nvPr>
            <p:ph type="title"/>
          </p:nvPr>
        </p:nvSpPr>
        <p:spPr>
          <a:xfrm>
            <a:off x="632850" y="885725"/>
            <a:ext cx="7878300" cy="23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4600"/>
              <a:t>Real Time Face Recognition System for Classroom Attendance</a:t>
            </a:r>
            <a:endParaRPr sz="4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>
            <p:ph idx="16" type="body"/>
          </p:nvPr>
        </p:nvSpPr>
        <p:spPr>
          <a:xfrm>
            <a:off x="5363925" y="2315775"/>
            <a:ext cx="33432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Phase 1: CNN Classification (Initial Attempt)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Phase 2: Embedding-Based Recognition (Final Solution)</a:t>
            </a:r>
            <a:endParaRPr sz="900"/>
          </a:p>
        </p:txBody>
      </p:sp>
      <p:sp>
        <p:nvSpPr>
          <p:cNvPr id="378" name="Google Shape;378;p60"/>
          <p:cNvSpPr txBox="1"/>
          <p:nvPr>
            <p:ph idx="7" type="body"/>
          </p:nvPr>
        </p:nvSpPr>
        <p:spPr>
          <a:xfrm>
            <a:off x="1528350" y="2468175"/>
            <a:ext cx="25332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Problems with traditional attendance: Time-consuming, manual errors.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How facial recognition offers speed, automation, and accuracy.</a:t>
            </a:r>
            <a:endParaRPr sz="900"/>
          </a:p>
        </p:txBody>
      </p:sp>
      <p:sp>
        <p:nvSpPr>
          <p:cNvPr id="379" name="Google Shape;379;p60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80" name="Google Shape;380;p60"/>
          <p:cNvSpPr txBox="1"/>
          <p:nvPr>
            <p:ph idx="2" type="body"/>
          </p:nvPr>
        </p:nvSpPr>
        <p:spPr>
          <a:xfrm>
            <a:off x="7872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81" name="Google Shape;381;p60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82" name="Google Shape;382;p60"/>
          <p:cNvSpPr txBox="1"/>
          <p:nvPr>
            <p:ph idx="4" type="body"/>
          </p:nvPr>
        </p:nvSpPr>
        <p:spPr>
          <a:xfrm>
            <a:off x="1565101" y="1226050"/>
            <a:ext cx="24963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What is facial recognition?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Why use it for class attendance?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Goal = real-time system that identifies students automatically.</a:t>
            </a:r>
            <a:endParaRPr sz="900"/>
          </a:p>
        </p:txBody>
      </p:sp>
      <p:sp>
        <p:nvSpPr>
          <p:cNvPr id="383" name="Google Shape;383;p60"/>
          <p:cNvSpPr txBox="1"/>
          <p:nvPr>
            <p:ph idx="5" type="body"/>
          </p:nvPr>
        </p:nvSpPr>
        <p:spPr>
          <a:xfrm>
            <a:off x="7872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4" name="Google Shape;384;p60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MOTIVATION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60"/>
          <p:cNvSpPr txBox="1"/>
          <p:nvPr>
            <p:ph idx="8" type="body"/>
          </p:nvPr>
        </p:nvSpPr>
        <p:spPr>
          <a:xfrm>
            <a:off x="7872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6" name="Google Shape;386;p60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CHALLENGES</a:t>
            </a:r>
            <a:endParaRPr/>
          </a:p>
        </p:txBody>
      </p:sp>
      <p:sp>
        <p:nvSpPr>
          <p:cNvPr id="387" name="Google Shape;387;p60"/>
          <p:cNvSpPr txBox="1"/>
          <p:nvPr>
            <p:ph idx="14" type="body"/>
          </p:nvPr>
        </p:nvSpPr>
        <p:spPr>
          <a:xfrm>
            <a:off x="45179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88" name="Google Shape;388;p60"/>
          <p:cNvSpPr txBox="1"/>
          <p:nvPr>
            <p:ph idx="15" type="subTitle"/>
          </p:nvPr>
        </p:nvSpPr>
        <p:spPr>
          <a:xfrm>
            <a:off x="5429898" y="980275"/>
            <a:ext cx="32118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FRAMEWORK</a:t>
            </a:r>
            <a:endParaRPr/>
          </a:p>
        </p:txBody>
      </p:sp>
      <p:sp>
        <p:nvSpPr>
          <p:cNvPr id="389" name="Google Shape;389;p60"/>
          <p:cNvSpPr txBox="1"/>
          <p:nvPr>
            <p:ph idx="17" type="body"/>
          </p:nvPr>
        </p:nvSpPr>
        <p:spPr>
          <a:xfrm>
            <a:off x="4517981" y="2061741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90" name="Google Shape;390;p60"/>
          <p:cNvSpPr txBox="1"/>
          <p:nvPr>
            <p:ph idx="18" type="subTitle"/>
          </p:nvPr>
        </p:nvSpPr>
        <p:spPr>
          <a:xfrm>
            <a:off x="5429905" y="2061466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91" name="Google Shape;391;p6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60"/>
          <p:cNvSpPr txBox="1"/>
          <p:nvPr>
            <p:ph idx="17" type="body"/>
          </p:nvPr>
        </p:nvSpPr>
        <p:spPr>
          <a:xfrm>
            <a:off x="4517981" y="3043391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93" name="Google Shape;393;p60"/>
          <p:cNvSpPr txBox="1"/>
          <p:nvPr>
            <p:ph idx="18" type="subTitle"/>
          </p:nvPr>
        </p:nvSpPr>
        <p:spPr>
          <a:xfrm>
            <a:off x="5429905" y="30580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394" name="Google Shape;394;p60"/>
          <p:cNvSpPr txBox="1"/>
          <p:nvPr>
            <p:ph idx="17" type="body"/>
          </p:nvPr>
        </p:nvSpPr>
        <p:spPr>
          <a:xfrm>
            <a:off x="4517981" y="402531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395" name="Google Shape;395;p60"/>
          <p:cNvSpPr txBox="1"/>
          <p:nvPr>
            <p:ph idx="18" type="subTitle"/>
          </p:nvPr>
        </p:nvSpPr>
        <p:spPr>
          <a:xfrm>
            <a:off x="5429868" y="4025316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96" name="Google Shape;396;p60"/>
          <p:cNvSpPr txBox="1"/>
          <p:nvPr>
            <p:ph idx="13" type="body"/>
          </p:nvPr>
        </p:nvSpPr>
        <p:spPr>
          <a:xfrm>
            <a:off x="1546650" y="3500850"/>
            <a:ext cx="25332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Data Scarcity: Only 1-2 images per student.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Overfitting: Small dataset → hard to generalize.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Pre-trained Models Importance: (transfer learning)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Similarity vs Classification: (using embeddings instead of predicting class labels directly)</a:t>
            </a:r>
            <a:endParaRPr sz="900"/>
          </a:p>
        </p:txBody>
      </p:sp>
      <p:sp>
        <p:nvSpPr>
          <p:cNvPr id="397" name="Google Shape;397;p60"/>
          <p:cNvSpPr txBox="1"/>
          <p:nvPr>
            <p:ph idx="16" type="body"/>
          </p:nvPr>
        </p:nvSpPr>
        <p:spPr>
          <a:xfrm>
            <a:off x="5363925" y="1226050"/>
            <a:ext cx="29319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What are embeddings? (128-dim vectors)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Cosine Similarity explained (+ simple formula)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Why FaceNet was crucial: turns few-shot problems into similarity search.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98" name="Google Shape;398;p60"/>
          <p:cNvSpPr txBox="1"/>
          <p:nvPr>
            <p:ph idx="19" type="body"/>
          </p:nvPr>
        </p:nvSpPr>
        <p:spPr>
          <a:xfrm>
            <a:off x="5363925" y="3303875"/>
            <a:ext cx="32118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Strengths: Speed, Automation, Good generalization even with few images.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Weaknesses: Lighting conditions, limited samples, false positives/negatives sometimes.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1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04" name="Google Shape;404;p61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2"/>
          <p:cNvSpPr txBox="1"/>
          <p:nvPr>
            <p:ph type="title"/>
          </p:nvPr>
        </p:nvSpPr>
        <p:spPr>
          <a:xfrm>
            <a:off x="591450" y="391675"/>
            <a:ext cx="4397400" cy="33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Facial recognition is a biometric technology that identifies or verifies individuals based on facial features extracted from images or videos.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It involves detecting a face, analyzing key landmarks, and matching it against a database.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2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WHAT IS FACIAL RECOGNITION?</a:t>
            </a:r>
            <a:endParaRPr sz="2200"/>
          </a:p>
        </p:txBody>
      </p:sp>
      <p:sp>
        <p:nvSpPr>
          <p:cNvPr id="411" name="Google Shape;411;p6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2" name="Google Shape;412;p62"/>
          <p:cNvPicPr preferRelativeResize="0"/>
          <p:nvPr/>
        </p:nvPicPr>
        <p:blipFill rotWithShape="1">
          <a:blip r:embed="rId3">
            <a:alphaModFix/>
          </a:blip>
          <a:srcRect b="0" l="33379" r="23003" t="0"/>
          <a:stretch/>
        </p:blipFill>
        <p:spPr>
          <a:xfrm>
            <a:off x="5562300" y="665463"/>
            <a:ext cx="3130200" cy="38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3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&amp; GOAL</a:t>
            </a:r>
            <a:endParaRPr/>
          </a:p>
        </p:txBody>
      </p:sp>
      <p:sp>
        <p:nvSpPr>
          <p:cNvPr id="418" name="Google Shape;418;p6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63"/>
          <p:cNvSpPr txBox="1"/>
          <p:nvPr>
            <p:ph idx="2" type="body"/>
          </p:nvPr>
        </p:nvSpPr>
        <p:spPr>
          <a:xfrm>
            <a:off x="810075" y="17604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 sz="1500">
                <a:latin typeface="Hepta Slab"/>
                <a:ea typeface="Hepta Slab"/>
                <a:cs typeface="Hepta Slab"/>
                <a:sym typeface="Hepta Slab"/>
              </a:rPr>
              <a:t>Why use it for class attendance?</a:t>
            </a:r>
            <a:br>
              <a:rPr b="1" lang="en" sz="1500">
                <a:latin typeface="Hepta Slab"/>
                <a:ea typeface="Hepta Slab"/>
                <a:cs typeface="Hepta Slab"/>
                <a:sym typeface="Hepta Slab"/>
              </a:rPr>
            </a:br>
            <a:r>
              <a:rPr lang="en" sz="1500">
                <a:latin typeface="Hepta Slab"/>
                <a:ea typeface="Hepta Slab"/>
                <a:cs typeface="Hepta Slab"/>
                <a:sym typeface="Hepta Slab"/>
              </a:rPr>
              <a:t>Traditional roll calls are time-consuming, manual, and error-prone. Facial recognition can automate this process, making it faster, more accurate, and less disruptive to class flow.</a:t>
            </a:r>
            <a:br>
              <a:rPr lang="en" sz="1500">
                <a:latin typeface="Hepta Slab"/>
                <a:ea typeface="Hepta Slab"/>
                <a:cs typeface="Hepta Slab"/>
                <a:sym typeface="Hepta Slab"/>
              </a:rPr>
            </a:br>
            <a:endParaRPr sz="1500"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 sz="1500">
                <a:latin typeface="Hepta Slab"/>
                <a:ea typeface="Hepta Slab"/>
                <a:cs typeface="Hepta Slab"/>
                <a:sym typeface="Hepta Slab"/>
              </a:rPr>
              <a:t>Our Goal:</a:t>
            </a:r>
            <a:br>
              <a:rPr b="1" lang="en" sz="1500">
                <a:latin typeface="Hepta Slab"/>
                <a:ea typeface="Hepta Slab"/>
                <a:cs typeface="Hepta Slab"/>
                <a:sym typeface="Hepta Slab"/>
              </a:rPr>
            </a:br>
            <a:r>
              <a:rPr lang="en" sz="1500">
                <a:latin typeface="Hepta Slab"/>
                <a:ea typeface="Hepta Slab"/>
                <a:cs typeface="Hepta Slab"/>
                <a:sym typeface="Hepta Slab"/>
              </a:rPr>
              <a:t>To create a real-time system capable of identifying students using a live camera feed, minimizing the need for manual intervention.</a:t>
            </a:r>
            <a:endParaRPr sz="3200">
              <a:latin typeface="Hepta Slab Light"/>
              <a:ea typeface="Hepta Slab Light"/>
              <a:cs typeface="Hepta Slab Light"/>
              <a:sym typeface="Hepta Slab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4"/>
          <p:cNvSpPr txBox="1"/>
          <p:nvPr>
            <p:ph type="title"/>
          </p:nvPr>
        </p:nvSpPr>
        <p:spPr>
          <a:xfrm>
            <a:off x="697350" y="3087700"/>
            <a:ext cx="7749300" cy="8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425" name="Google Shape;425;p64"/>
          <p:cNvSpPr txBox="1"/>
          <p:nvPr>
            <p:ph idx="2" type="title"/>
          </p:nvPr>
        </p:nvSpPr>
        <p:spPr>
          <a:xfrm>
            <a:off x="3278250" y="1194450"/>
            <a:ext cx="2587500" cy="18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5"/>
          <p:cNvSpPr txBox="1"/>
          <p:nvPr>
            <p:ph idx="4" type="body"/>
          </p:nvPr>
        </p:nvSpPr>
        <p:spPr>
          <a:xfrm>
            <a:off x="7044450" y="3680400"/>
            <a:ext cx="1294800" cy="3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Tedious record-keeping.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31" name="Google Shape;431;p6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</p:spPr>
      </p:sp>
      <p:sp>
        <p:nvSpPr>
          <p:cNvPr id="432" name="Google Shape;432;p6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</p:spPr>
      </p:sp>
      <p:sp>
        <p:nvSpPr>
          <p:cNvPr id="433" name="Google Shape;433;p6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</p:spPr>
      </p:sp>
      <p:sp>
        <p:nvSpPr>
          <p:cNvPr id="434" name="Google Shape;434;p6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35" name="Google Shape;435;p6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36" name="Google Shape;436;p6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37" name="Google Shape;437;p65"/>
          <p:cNvSpPr txBox="1"/>
          <p:nvPr>
            <p:ph idx="14" type="body"/>
          </p:nvPr>
        </p:nvSpPr>
        <p:spPr>
          <a:xfrm>
            <a:off x="507400" y="1675650"/>
            <a:ext cx="24024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ATTENDANCE PROBLEMS</a:t>
            </a:r>
            <a:endParaRPr/>
          </a:p>
        </p:txBody>
      </p:sp>
      <p:sp>
        <p:nvSpPr>
          <p:cNvPr id="438" name="Google Shape;438;p65"/>
          <p:cNvSpPr txBox="1"/>
          <p:nvPr>
            <p:ph idx="16" type="body"/>
          </p:nvPr>
        </p:nvSpPr>
        <p:spPr>
          <a:xfrm>
            <a:off x="5481425" y="3680625"/>
            <a:ext cx="1294800" cy="3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Higher chance of human error or proxy attendance (students signing in for friends).</a:t>
            </a:r>
            <a:endParaRPr sz="1000"/>
          </a:p>
        </p:txBody>
      </p:sp>
      <p:sp>
        <p:nvSpPr>
          <p:cNvPr id="439" name="Google Shape;439;p6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65"/>
          <p:cNvSpPr txBox="1"/>
          <p:nvPr>
            <p:ph idx="2" type="body"/>
          </p:nvPr>
        </p:nvSpPr>
        <p:spPr>
          <a:xfrm>
            <a:off x="3918400" y="3680775"/>
            <a:ext cx="1294800" cy="3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Manual processes slow down class activities.</a:t>
            </a:r>
            <a:endParaRPr sz="1000"/>
          </a:p>
        </p:txBody>
      </p:sp>
      <p:pic>
        <p:nvPicPr>
          <p:cNvPr id="441" name="Google Shape;441;p65"/>
          <p:cNvPicPr preferRelativeResize="0"/>
          <p:nvPr/>
        </p:nvPicPr>
        <p:blipFill rotWithShape="1">
          <a:blip r:embed="rId3">
            <a:alphaModFix/>
          </a:blip>
          <a:srcRect b="8817" l="25835" r="35019" t="0"/>
          <a:stretch/>
        </p:blipFill>
        <p:spPr>
          <a:xfrm>
            <a:off x="3918800" y="1586875"/>
            <a:ext cx="1391676" cy="198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5"/>
          <p:cNvPicPr preferRelativeResize="0"/>
          <p:nvPr/>
        </p:nvPicPr>
        <p:blipFill rotWithShape="1">
          <a:blip r:embed="rId4">
            <a:alphaModFix/>
          </a:blip>
          <a:srcRect b="0" l="0" r="6620" t="0"/>
          <a:stretch/>
        </p:blipFill>
        <p:spPr>
          <a:xfrm>
            <a:off x="5490975" y="1586875"/>
            <a:ext cx="1391675" cy="198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3150" y="1588675"/>
            <a:ext cx="1391676" cy="197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6"/>
          <p:cNvSpPr txBox="1"/>
          <p:nvPr>
            <p:ph idx="1" type="subTitle"/>
          </p:nvPr>
        </p:nvSpPr>
        <p:spPr>
          <a:xfrm>
            <a:off x="480424" y="290625"/>
            <a:ext cx="65295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Benefits of Facial Recognition</a:t>
            </a:r>
            <a:endParaRPr sz="2800"/>
          </a:p>
        </p:txBody>
      </p:sp>
      <p:sp>
        <p:nvSpPr>
          <p:cNvPr id="449" name="Google Shape;449;p66"/>
          <p:cNvSpPr txBox="1"/>
          <p:nvPr/>
        </p:nvSpPr>
        <p:spPr>
          <a:xfrm>
            <a:off x="5279375" y="1775550"/>
            <a:ext cx="3560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 sz="17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Reduces errors.</a:t>
            </a:r>
            <a:endParaRPr sz="1700">
              <a:solidFill>
                <a:schemeClr val="lt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450" name="Google Shape;450;p66"/>
          <p:cNvSpPr txBox="1"/>
          <p:nvPr/>
        </p:nvSpPr>
        <p:spPr>
          <a:xfrm>
            <a:off x="5279375" y="3464929"/>
            <a:ext cx="29283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Provides real-time analytics.</a:t>
            </a:r>
            <a:endParaRPr>
              <a:solidFill>
                <a:schemeClr val="lt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451" name="Google Shape;451;p66"/>
          <p:cNvSpPr txBox="1"/>
          <p:nvPr/>
        </p:nvSpPr>
        <p:spPr>
          <a:xfrm>
            <a:off x="791175" y="1775553"/>
            <a:ext cx="32739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 sz="17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Quick, automatic attendance taking.</a:t>
            </a:r>
            <a:endParaRPr sz="1700">
              <a:solidFill>
                <a:schemeClr val="lt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452" name="Google Shape;452;p66"/>
          <p:cNvSpPr txBox="1"/>
          <p:nvPr/>
        </p:nvSpPr>
        <p:spPr>
          <a:xfrm>
            <a:off x="791175" y="3464925"/>
            <a:ext cx="264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Prevents fraudulent attendance.</a:t>
            </a:r>
            <a:endParaRPr>
              <a:solidFill>
                <a:schemeClr val="dk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453" name="Google Shape;453;p6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4" name="Google Shape;454;p66"/>
          <p:cNvSpPr/>
          <p:nvPr/>
        </p:nvSpPr>
        <p:spPr>
          <a:xfrm>
            <a:off x="0" y="4173600"/>
            <a:ext cx="9144000" cy="102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Wider Impact:</a:t>
            </a:r>
            <a:br>
              <a:rPr b="1"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</a:br>
            <a:r>
              <a:rPr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 Technology learned here can be adapted beyond classrooms: offices, conferences, or public events.</a:t>
            </a:r>
            <a:endParaRPr>
              <a:latin typeface="Hepta Slab Light"/>
              <a:ea typeface="Hepta Slab Light"/>
              <a:cs typeface="Hepta Slab Light"/>
              <a:sym typeface="Hepta Slab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7"/>
          <p:cNvSpPr txBox="1"/>
          <p:nvPr>
            <p:ph type="title"/>
          </p:nvPr>
        </p:nvSpPr>
        <p:spPr>
          <a:xfrm>
            <a:off x="697350" y="3063750"/>
            <a:ext cx="7749300" cy="8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CHALLENGES</a:t>
            </a:r>
            <a:endParaRPr/>
          </a:p>
        </p:txBody>
      </p:sp>
      <p:sp>
        <p:nvSpPr>
          <p:cNvPr id="460" name="Google Shape;460;p67"/>
          <p:cNvSpPr txBox="1"/>
          <p:nvPr>
            <p:ph idx="2" type="title"/>
          </p:nvPr>
        </p:nvSpPr>
        <p:spPr>
          <a:xfrm>
            <a:off x="3278250" y="1194450"/>
            <a:ext cx="2587500" cy="18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8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</a:t>
            </a:r>
            <a:endParaRPr/>
          </a:p>
        </p:txBody>
      </p:sp>
      <p:sp>
        <p:nvSpPr>
          <p:cNvPr id="466" name="Google Shape;466;p6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7" name="Google Shape;467;p68"/>
          <p:cNvSpPr txBox="1"/>
          <p:nvPr>
            <p:ph idx="2" type="body"/>
          </p:nvPr>
        </p:nvSpPr>
        <p:spPr>
          <a:xfrm>
            <a:off x="154300" y="1682650"/>
            <a:ext cx="8766000" cy="31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Hepta Slab"/>
              <a:buChar char="●"/>
            </a:pPr>
            <a:r>
              <a:rPr b="1" lang="en" sz="1100">
                <a:latin typeface="Hepta Slab"/>
                <a:ea typeface="Hepta Slab"/>
                <a:cs typeface="Hepta Slab"/>
                <a:sym typeface="Hepta Slab"/>
              </a:rPr>
              <a:t>Data Scarcity:</a:t>
            </a:r>
            <a:endParaRPr b="1"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AutoNum type="alphaLcPeriod"/>
            </a:pP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Only 1–2 images available per student</a:t>
            </a: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.</a:t>
            </a:r>
            <a:endParaRPr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AutoNum type="alphaLcPeriod"/>
            </a:pP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Deep learning typically requires hundreds or thousands per class.</a:t>
            </a:r>
            <a:endParaRPr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Char char="●"/>
            </a:pPr>
            <a:r>
              <a:rPr b="1" lang="en" sz="1100">
                <a:latin typeface="Hepta Slab"/>
                <a:ea typeface="Hepta Slab"/>
                <a:cs typeface="Hepta Slab"/>
                <a:sym typeface="Hepta Slab"/>
              </a:rPr>
              <a:t>Overfitting:</a:t>
            </a:r>
            <a:endParaRPr b="1"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AutoNum type="alphaLcPeriod"/>
            </a:pP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Models trained on such small datasets memorized images but failed to generalize to new images.</a:t>
            </a:r>
            <a:endParaRPr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AutoNum type="alphaLcPeriod"/>
            </a:pP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Initial CNN classifier showed very high training accuracy but poor testing accuracy.</a:t>
            </a:r>
            <a:endParaRPr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Char char="●"/>
            </a:pPr>
            <a:r>
              <a:rPr b="1" lang="en" sz="1100">
                <a:latin typeface="Hepta Slab"/>
                <a:ea typeface="Hepta Slab"/>
                <a:cs typeface="Hepta Slab"/>
                <a:sym typeface="Hepta Slab"/>
              </a:rPr>
              <a:t>Importance of Pre-trained Models:</a:t>
            </a:r>
            <a:endParaRPr b="1"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AutoNum type="alphaLcPeriod"/>
            </a:pP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Using models like FaceNet and VGGFace trained on millions of faces helped us transfer learned features.</a:t>
            </a:r>
            <a:endParaRPr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AutoNum type="alphaLcPeriod"/>
            </a:pP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Transfer learning allowed us to adapt to our small dataset.</a:t>
            </a:r>
            <a:endParaRPr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Char char="●"/>
            </a:pPr>
            <a:r>
              <a:rPr b="1" lang="en" sz="1100">
                <a:latin typeface="Hepta Slab"/>
                <a:ea typeface="Hepta Slab"/>
                <a:cs typeface="Hepta Slab"/>
                <a:sym typeface="Hepta Slab"/>
              </a:rPr>
              <a:t>Similarity vs. Classification:</a:t>
            </a:r>
            <a:endParaRPr b="1"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AutoNum type="alphaLcPeriod"/>
            </a:pP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Instead of forcing the system to </a:t>
            </a:r>
            <a:r>
              <a:rPr i="1" lang="en" sz="1100">
                <a:latin typeface="Hepta Slab"/>
                <a:ea typeface="Hepta Slab"/>
                <a:cs typeface="Hepta Slab"/>
                <a:sym typeface="Hepta Slab"/>
              </a:rPr>
              <a:t>classify</a:t>
            </a: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 among students (which needs many samples), we </a:t>
            </a:r>
            <a:r>
              <a:rPr i="1" lang="en" sz="1100">
                <a:latin typeface="Hepta Slab"/>
                <a:ea typeface="Hepta Slab"/>
                <a:cs typeface="Hepta Slab"/>
                <a:sym typeface="Hepta Slab"/>
              </a:rPr>
              <a:t>compared</a:t>
            </a: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 faces using similarity score</a:t>
            </a: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s.</a:t>
            </a:r>
            <a:endParaRPr sz="1100"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pta Slab"/>
              <a:buAutoNum type="alphaLcPeriod"/>
            </a:pPr>
            <a:r>
              <a:rPr lang="en" sz="1100">
                <a:latin typeface="Hepta Slab"/>
                <a:ea typeface="Hepta Slab"/>
                <a:cs typeface="Hepta Slab"/>
                <a:sym typeface="Hepta Slab"/>
              </a:rPr>
              <a:t>Embedding-based recognition was the breakthrough that allowed good performance even with few images.</a:t>
            </a:r>
            <a:endParaRPr b="1" sz="1500">
              <a:latin typeface="Hepta Slab"/>
              <a:ea typeface="Hepta Slab"/>
              <a:cs typeface="Hepta Slab"/>
              <a:sym typeface="Hepta Sla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9"/>
          <p:cNvSpPr txBox="1"/>
          <p:nvPr>
            <p:ph type="title"/>
          </p:nvPr>
        </p:nvSpPr>
        <p:spPr>
          <a:xfrm>
            <a:off x="697350" y="3048150"/>
            <a:ext cx="7749300" cy="9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FRAMEWORK</a:t>
            </a:r>
            <a:endParaRPr/>
          </a:p>
        </p:txBody>
      </p:sp>
      <p:sp>
        <p:nvSpPr>
          <p:cNvPr id="473" name="Google Shape;473;p69"/>
          <p:cNvSpPr txBox="1"/>
          <p:nvPr>
            <p:ph idx="2" type="title"/>
          </p:nvPr>
        </p:nvSpPr>
        <p:spPr>
          <a:xfrm>
            <a:off x="3278250" y="1194450"/>
            <a:ext cx="2587500" cy="18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0"/>
          <p:cNvSpPr txBox="1"/>
          <p:nvPr>
            <p:ph idx="1" type="subTitle"/>
          </p:nvPr>
        </p:nvSpPr>
        <p:spPr>
          <a:xfrm>
            <a:off x="791150" y="522625"/>
            <a:ext cx="7225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embeddings?</a:t>
            </a:r>
            <a:endParaRPr/>
          </a:p>
        </p:txBody>
      </p:sp>
      <p:sp>
        <p:nvSpPr>
          <p:cNvPr id="479" name="Google Shape;479;p70"/>
          <p:cNvSpPr txBox="1"/>
          <p:nvPr>
            <p:ph idx="2" type="body"/>
          </p:nvPr>
        </p:nvSpPr>
        <p:spPr>
          <a:xfrm>
            <a:off x="484950" y="1989025"/>
            <a:ext cx="30225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Embeddings are numerical representations of objects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Embeddings are 128-dimensional vectors representing faces.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These vectors encode important facial features (like the distances between eyes, jaw shape, etc.) in a way machines can easily compare.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80" name="Google Shape;480;p7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1" name="Google Shape;48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7175" y="1689975"/>
            <a:ext cx="5381900" cy="327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1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Cosine Similarity</a:t>
            </a:r>
            <a:endParaRPr/>
          </a:p>
        </p:txBody>
      </p:sp>
      <p:sp>
        <p:nvSpPr>
          <p:cNvPr id="487" name="Google Shape;487;p7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8" name="Google Shape;488;p71"/>
          <p:cNvPicPr preferRelativeResize="0"/>
          <p:nvPr/>
        </p:nvPicPr>
        <p:blipFill rotWithShape="1">
          <a:blip r:embed="rId3">
            <a:alphaModFix/>
          </a:blip>
          <a:srcRect b="36024" l="17648" r="4536" t="0"/>
          <a:stretch/>
        </p:blipFill>
        <p:spPr>
          <a:xfrm>
            <a:off x="5530525" y="2211700"/>
            <a:ext cx="2816650" cy="2052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1"/>
          <p:cNvSpPr txBox="1"/>
          <p:nvPr/>
        </p:nvSpPr>
        <p:spPr>
          <a:xfrm>
            <a:off x="639275" y="2050050"/>
            <a:ext cx="43425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pta Slab"/>
              <a:buChar char="●"/>
            </a:pPr>
            <a:r>
              <a:rPr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Measures how similar two vectors are.</a:t>
            </a:r>
            <a:br>
              <a:rPr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</a:br>
            <a:endParaRPr sz="11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pta Slab"/>
              <a:buChar char="●"/>
            </a:pPr>
            <a:r>
              <a:rPr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Formula:</a:t>
            </a:r>
            <a:endParaRPr sz="11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If similarity is close to </a:t>
            </a:r>
            <a:r>
              <a:rPr b="1"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1.0</a:t>
            </a:r>
            <a:r>
              <a:rPr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, it means faces are nearly identical.</a:t>
            </a:r>
            <a:br>
              <a:rPr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</a:br>
            <a:endParaRPr sz="11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pta Slab"/>
              <a:buChar char="●"/>
            </a:pPr>
            <a:r>
              <a:rPr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  <a:t>Lower similarity means faces are different.</a:t>
            </a:r>
            <a:br>
              <a:rPr lang="en" sz="1100">
                <a:solidFill>
                  <a:schemeClr val="lt1"/>
                </a:solidFill>
                <a:latin typeface="Hepta Slab"/>
                <a:ea typeface="Hepta Slab"/>
                <a:cs typeface="Hepta Slab"/>
                <a:sym typeface="Hepta Slab"/>
              </a:rPr>
            </a:br>
            <a:endParaRPr sz="1100"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epta Slab Light"/>
              <a:ea typeface="Hepta Slab Light"/>
              <a:cs typeface="Hepta Slab Light"/>
              <a:sym typeface="Hepta Slab Light"/>
            </a:endParaRPr>
          </a:p>
        </p:txBody>
      </p:sp>
      <p:pic>
        <p:nvPicPr>
          <p:cNvPr id="490" name="Google Shape;490;p71"/>
          <p:cNvPicPr preferRelativeResize="0"/>
          <p:nvPr/>
        </p:nvPicPr>
        <p:blipFill rotWithShape="1">
          <a:blip r:embed="rId4">
            <a:alphaModFix/>
          </a:blip>
          <a:srcRect b="8521" l="0" r="0" t="11911"/>
          <a:stretch/>
        </p:blipFill>
        <p:spPr>
          <a:xfrm>
            <a:off x="1445600" y="2681975"/>
            <a:ext cx="3947725" cy="7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2"/>
          <p:cNvSpPr txBox="1"/>
          <p:nvPr>
            <p:ph idx="1" type="subTitle"/>
          </p:nvPr>
        </p:nvSpPr>
        <p:spPr>
          <a:xfrm>
            <a:off x="791150" y="522625"/>
            <a:ext cx="39183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FaceNet’s Role</a:t>
            </a:r>
            <a:endParaRPr/>
          </a:p>
        </p:txBody>
      </p:sp>
      <p:sp>
        <p:nvSpPr>
          <p:cNvPr id="496" name="Google Shape;496;p7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72"/>
          <p:cNvSpPr txBox="1"/>
          <p:nvPr/>
        </p:nvSpPr>
        <p:spPr>
          <a:xfrm>
            <a:off x="330650" y="1734075"/>
            <a:ext cx="8237100" cy="26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●"/>
            </a:pP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FaceNet doesn't classify faces directly.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●"/>
            </a:pP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It learns a space where faces from the same person are closer together. 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●"/>
            </a:pP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Ideal for few-shot learning problems like our where faces from the same person are closer together.</a:t>
            </a:r>
            <a:b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</a:b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Ideal for few-shot learning problems like our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98" name="Google Shape;49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838" y="3111700"/>
            <a:ext cx="6318325" cy="16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3"/>
          <p:cNvSpPr txBox="1"/>
          <p:nvPr>
            <p:ph type="title"/>
          </p:nvPr>
        </p:nvSpPr>
        <p:spPr>
          <a:xfrm>
            <a:off x="697350" y="3048150"/>
            <a:ext cx="7749300" cy="9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504" name="Google Shape;504;p73"/>
          <p:cNvSpPr txBox="1"/>
          <p:nvPr>
            <p:ph idx="2" type="title"/>
          </p:nvPr>
        </p:nvSpPr>
        <p:spPr>
          <a:xfrm>
            <a:off x="3278250" y="1194450"/>
            <a:ext cx="2587500" cy="18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4"/>
          <p:cNvSpPr txBox="1"/>
          <p:nvPr>
            <p:ph idx="1" type="subTitle"/>
          </p:nvPr>
        </p:nvSpPr>
        <p:spPr>
          <a:xfrm>
            <a:off x="791150" y="370225"/>
            <a:ext cx="78279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PHASE 1: CNN Classification (Initial Attempt)</a:t>
            </a:r>
            <a:endParaRPr sz="3300"/>
          </a:p>
        </p:txBody>
      </p:sp>
      <p:sp>
        <p:nvSpPr>
          <p:cNvPr id="510" name="Google Shape;510;p74"/>
          <p:cNvSpPr txBox="1"/>
          <p:nvPr>
            <p:ph idx="2" type="body"/>
          </p:nvPr>
        </p:nvSpPr>
        <p:spPr>
          <a:xfrm>
            <a:off x="303075" y="1741925"/>
            <a:ext cx="8536200" cy="31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Barlow"/>
                <a:ea typeface="Barlow"/>
                <a:cs typeface="Barlow"/>
                <a:sym typeface="Barlow"/>
              </a:rPr>
              <a:t>Idea</a:t>
            </a:r>
            <a:r>
              <a:rPr lang="en" sz="1300"/>
              <a:t>: Build a CNN that directly predicts student identity.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Barlow"/>
                <a:ea typeface="Barlow"/>
                <a:cs typeface="Barlow"/>
                <a:sym typeface="Barlow"/>
              </a:rPr>
              <a:t>Data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Classmates' Canva profile photos.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Public Labeled Faces in the Wild (LFW) dataset for more variety.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Barlow"/>
                <a:ea typeface="Barlow"/>
                <a:cs typeface="Barlow"/>
                <a:sym typeface="Barlow"/>
              </a:rPr>
              <a:t>Model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Fine-tuned VGG16 and MobileNet models.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Barlow"/>
                <a:ea typeface="Barlow"/>
                <a:cs typeface="Barlow"/>
                <a:sym typeface="Barlow"/>
              </a:rPr>
              <a:t>Data Augmentation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Random flips, rotations, zooms, color adjustments to artificially expand dataset.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Barlow"/>
                <a:ea typeface="Barlow"/>
                <a:cs typeface="Barlow"/>
                <a:sym typeface="Barlow"/>
              </a:rPr>
              <a:t>Result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Severe overfitting.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Low real-world performance on new camera inputs.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11" name="Google Shape;511;p7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5"/>
          <p:cNvSpPr txBox="1"/>
          <p:nvPr>
            <p:ph idx="1" type="subTitle"/>
          </p:nvPr>
        </p:nvSpPr>
        <p:spPr>
          <a:xfrm>
            <a:off x="257175" y="370225"/>
            <a:ext cx="78621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</a:t>
            </a:r>
            <a:r>
              <a:rPr lang="en"/>
              <a:t> 2: Embedding-Based Recognition (Final Solution)</a:t>
            </a:r>
            <a:endParaRPr/>
          </a:p>
        </p:txBody>
      </p:sp>
      <p:sp>
        <p:nvSpPr>
          <p:cNvPr id="517" name="Google Shape;517;p7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75"/>
          <p:cNvSpPr txBox="1"/>
          <p:nvPr>
            <p:ph idx="2" type="body"/>
          </p:nvPr>
        </p:nvSpPr>
        <p:spPr>
          <a:xfrm>
            <a:off x="303075" y="1741925"/>
            <a:ext cx="8536200" cy="31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Barlow"/>
                <a:ea typeface="Barlow"/>
                <a:cs typeface="Barlow"/>
                <a:sym typeface="Barlow"/>
              </a:rPr>
              <a:t>Strategy:</a:t>
            </a:r>
            <a:endParaRPr b="1" sz="1300">
              <a:latin typeface="Barlow"/>
              <a:ea typeface="Barlow"/>
              <a:cs typeface="Barlow"/>
              <a:sym typeface="Barlow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 FaceNet to extract 128-dim embeddings for every student photo.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Store embeddings in a database.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During real-time recognition: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Capture a face from the webcam using MTCNN (</a:t>
            </a:r>
            <a:r>
              <a:rPr lang="en" sz="1300"/>
              <a:t>face cropper)</a:t>
            </a:r>
            <a:r>
              <a:rPr lang="en" sz="1300"/>
              <a:t>.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Extract embedding.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Find the most similar embedding in the database using cosine similarity.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Identify the student based on similarity threshold.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Barlow"/>
                <a:ea typeface="Barlow"/>
                <a:cs typeface="Barlow"/>
                <a:sym typeface="Barlow"/>
              </a:rPr>
              <a:t>Pipeline:</a:t>
            </a:r>
            <a:endParaRPr b="1" sz="1300">
              <a:latin typeface="Barlow"/>
              <a:ea typeface="Barlow"/>
              <a:cs typeface="Barlow"/>
              <a:sym typeface="Barlow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Face Detection → Detect face in video frame.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E</a:t>
            </a:r>
            <a:r>
              <a:rPr lang="en" sz="1300"/>
              <a:t>m</a:t>
            </a:r>
            <a:r>
              <a:rPr lang="en" sz="1300"/>
              <a:t>bedding Extraction → Get 128-dim vector.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Similarity Comparison → Compare against database.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Attendance Marking → If a match is found, mark student as present.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6"/>
          <p:cNvSpPr txBox="1"/>
          <p:nvPr>
            <p:ph type="title"/>
          </p:nvPr>
        </p:nvSpPr>
        <p:spPr>
          <a:xfrm>
            <a:off x="697350" y="3048150"/>
            <a:ext cx="7749300" cy="9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524" name="Google Shape;524;p76"/>
          <p:cNvSpPr txBox="1"/>
          <p:nvPr>
            <p:ph idx="2" type="title"/>
          </p:nvPr>
        </p:nvSpPr>
        <p:spPr>
          <a:xfrm>
            <a:off x="3278250" y="1194450"/>
            <a:ext cx="2587500" cy="18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7"/>
          <p:cNvSpPr txBox="1"/>
          <p:nvPr>
            <p:ph idx="1" type="subTitle"/>
          </p:nvPr>
        </p:nvSpPr>
        <p:spPr>
          <a:xfrm>
            <a:off x="791150" y="522625"/>
            <a:ext cx="39183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</a:t>
            </a:r>
            <a:endParaRPr/>
          </a:p>
        </p:txBody>
      </p:sp>
      <p:sp>
        <p:nvSpPr>
          <p:cNvPr id="530" name="Google Shape;530;p7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77"/>
          <p:cNvSpPr txBox="1"/>
          <p:nvPr/>
        </p:nvSpPr>
        <p:spPr>
          <a:xfrm>
            <a:off x="375600" y="1714750"/>
            <a:ext cx="85836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●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Speed:	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○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Attendance is marked in seconds.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●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Automation: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○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No human intervention required once setup.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●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Good Generalization: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○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Worked even with just one photo per student.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●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Scalable: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○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Adaptable for a high group of people.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○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Adding new students is simple: add their embedding.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8"/>
          <p:cNvSpPr txBox="1"/>
          <p:nvPr>
            <p:ph idx="1" type="subTitle"/>
          </p:nvPr>
        </p:nvSpPr>
        <p:spPr>
          <a:xfrm>
            <a:off x="791150" y="522625"/>
            <a:ext cx="39183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WEAKNESSES</a:t>
            </a:r>
            <a:endParaRPr/>
          </a:p>
        </p:txBody>
      </p:sp>
      <p:sp>
        <p:nvSpPr>
          <p:cNvPr id="537" name="Google Shape;537;p7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78"/>
          <p:cNvSpPr txBox="1"/>
          <p:nvPr/>
        </p:nvSpPr>
        <p:spPr>
          <a:xfrm>
            <a:off x="375600" y="1714750"/>
            <a:ext cx="85836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●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Lighting Conditions: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○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Changes in classroom lighting affected recognition.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●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Limited Samples: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○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Faces from unusual angles (profile, tilted) sometimes not recognized.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●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False Positives/Negatives: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Hepta Slab Light"/>
              <a:buChar char="○"/>
            </a:pPr>
            <a:r>
              <a:rPr lang="en" sz="1600">
                <a:latin typeface="Hepta Slab Light"/>
                <a:ea typeface="Hepta Slab Light"/>
                <a:cs typeface="Hepta Slab Light"/>
                <a:sym typeface="Hepta Slab Light"/>
              </a:rPr>
              <a:t>Some faces close in embedding space could be misidentified.</a:t>
            </a:r>
            <a:endParaRPr sz="1600">
              <a:latin typeface="Hepta Slab Light"/>
              <a:ea typeface="Hepta Slab Light"/>
              <a:cs typeface="Hepta Slab Light"/>
              <a:sym typeface="Hepta Slab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9"/>
          <p:cNvSpPr txBox="1"/>
          <p:nvPr>
            <p:ph type="title"/>
          </p:nvPr>
        </p:nvSpPr>
        <p:spPr>
          <a:xfrm>
            <a:off x="697350" y="3048150"/>
            <a:ext cx="7749300" cy="9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44" name="Google Shape;544;p79"/>
          <p:cNvSpPr txBox="1"/>
          <p:nvPr>
            <p:ph idx="2" type="title"/>
          </p:nvPr>
        </p:nvSpPr>
        <p:spPr>
          <a:xfrm>
            <a:off x="3278250" y="1194450"/>
            <a:ext cx="2587500" cy="18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80"/>
          <p:cNvSpPr txBox="1"/>
          <p:nvPr/>
        </p:nvSpPr>
        <p:spPr>
          <a:xfrm>
            <a:off x="670550" y="424250"/>
            <a:ext cx="7954500" cy="3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Barlow Light"/>
              <a:buChar char="●"/>
            </a:pP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Schroff, F., Kalenichenko, D., &amp; Philbin, J. (2015, June 17). FaceNet: A unified embedding for face recognition and clustering. arXiv.org. </a:t>
            </a:r>
            <a:r>
              <a:rPr lang="en" sz="13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3"/>
              </a:rPr>
              <a:t>https://arxiv.org/abs/1503.03832</a:t>
            </a: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  </a:t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Barlow Light"/>
              <a:buChar char="●"/>
            </a:pP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VGGFACE2: A dataset for recognising faces across pose and age | IEEE conference publication | IEEE Xplore. (n.d.). </a:t>
            </a:r>
            <a:r>
              <a:rPr lang="en" sz="13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4"/>
              </a:rPr>
              <a:t>https://ieeexplore.ieee.org/abstract/document/8373813</a:t>
            </a: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   </a:t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Barlow Light"/>
              <a:buChar char="●"/>
            </a:pP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Deng, J., Guo, J., Yang, J., Xue, N., Kotsia, I., &amp; Zafeiriou, S. (2022, September 4). Arcface: Additive angular margin loss for deep face recognition. arXiv.org. </a:t>
            </a:r>
            <a:r>
              <a:rPr lang="en" sz="13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5"/>
              </a:rPr>
              <a:t>https://doi.org/10.48550/arXiv.1801.07698</a:t>
            </a: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 </a:t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Barlow Light"/>
              <a:buChar char="●"/>
            </a:pP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Labeled Faces in the Wild (LFW) Dataset: Huang, G. B., Ramesh, M., Berg, T., &amp; Learned-Miller, E. (2007). Labeled Faces in the Wild: A Database for Studying Face Recognition in Unconstrained Environments. Official Website: </a:t>
            </a:r>
            <a:r>
              <a:rPr lang="en" sz="13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6"/>
              </a:rPr>
              <a:t>https://www.kaggle.com/datasets/jessicali9530/lfw-dataset</a:t>
            </a: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 </a:t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Barlow Light"/>
              <a:buChar char="●"/>
            </a:pP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keras-facenet Library: keras-facenet GitHub Repository. Pre-trained Keras implementation of FaceNet. Available at: </a:t>
            </a:r>
            <a:r>
              <a:rPr lang="en" sz="13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7"/>
              </a:rPr>
              <a:t>https://github.com/nyoki-mtl/keras-facenet</a:t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  </a:t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Barlow Light"/>
              <a:buChar char="●"/>
            </a:pP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Zhang, K., Zhang, Z., Li, Z., &amp; Qiao, Y. (2016, April 11). Joint face detection and alignment using multi-task cascaded convolutional networks. arXiv.org. </a:t>
            </a:r>
            <a:r>
              <a:rPr lang="en" sz="13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8"/>
              </a:rPr>
              <a:t>https://arxiv.org/abs/1604.02878</a:t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  </a:t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Barlow Light"/>
              <a:buChar char="●"/>
            </a:pP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OpenCV Documentation: OpenCV (Open Source Computer Vision Library). Official Documentation. Available at: </a:t>
            </a:r>
            <a:r>
              <a:rPr lang="en" sz="13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9"/>
              </a:rPr>
              <a:t>https://docs.opencv.org/</a:t>
            </a:r>
            <a:r>
              <a:rPr lang="en" sz="1300">
                <a:latin typeface="Barlow Light"/>
                <a:ea typeface="Barlow Light"/>
                <a:cs typeface="Barlow Light"/>
                <a:sym typeface="Barlow Light"/>
              </a:rPr>
              <a:t> </a:t>
            </a:r>
            <a:endParaRPr sz="1300"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81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56" name="Google Shape;556;p81"/>
          <p:cNvSpPr txBox="1"/>
          <p:nvPr>
            <p:ph idx="1" type="body"/>
          </p:nvPr>
        </p:nvSpPr>
        <p:spPr>
          <a:xfrm>
            <a:off x="567029" y="4500404"/>
            <a:ext cx="10158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